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71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RBaWeVqrP5sa5RwgwGDu2B/Sans-titre?node-id=0-1&amp;t=7e75SfTGfStia9p7-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0"/>
            <a:ext cx="109728" cy="68580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 ·  IoT  ·  MACHINE LEARNING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6400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Agrios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52B7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Farm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soil monitoring and crop recommendation platform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547872"/>
            <a:ext cx="5029200" cy="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7033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Pitch  |  Souss-Massa Region  |  2025–2026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Pr. Abdessamad AMAL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892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AGRIOS TEAM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516636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Yassine Maarouf (IISE – IoT)  |  Fatima Ezzahrae Baiha (ADIA – Backend &amp; ML)  |  Hasna Hamdani (IL – Dev &amp; UI/UX)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0" y="29260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B7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FSA Agadir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B7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Ibn Zohr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658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1165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Souss-Massa is Morocco's agricultural engine, but farms face serious challenges.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1165860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65392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Agrios Smart Farm  |  FSA Agadir — Ibn Zohr University  |  Supervisor: Pr. Abdessamad AMAL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5029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34440"/>
            <a:ext cx="201168" cy="1691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441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6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2648" y="1764792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water stress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" y="2130552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irrigation wastes scarce water. Farmers lack real-time soil moisture data.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23560" y="1234440"/>
            <a:ext cx="5029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23560" y="1234440"/>
            <a:ext cx="201168" cy="1691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13441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6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16168" y="1764792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Blind crop decisions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16168" y="2130552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choices are made without accurate NPK, pH, humidity and temperature readings.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5029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54680"/>
            <a:ext cx="201168" cy="1691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26440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2648" y="3685032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digital adoption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" y="4050792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Agritech tools are too expensive, complex, or poorly adapted to small farms.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23560" y="3154680"/>
            <a:ext cx="5029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23560" y="3154680"/>
            <a:ext cx="201168" cy="1691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16168" y="326440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916168" y="3685032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Yield &amp; income risk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16168" y="4050792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crop choices reduce revenue, damage soil health and raise seasonal costs.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698480" y="1234440"/>
            <a:ext cx="1280160" cy="370332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0" y="13990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17373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Put field 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the hands of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 farmers.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881360" y="3154680"/>
            <a:ext cx="914400" cy="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0" y="3291840"/>
            <a:ext cx="1097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Agrios turns soil readings into clear recommendations — fewer guesses, less waste, smarter agriculture.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658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Agrios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1165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platform: sensors → AI analysis → farmer decisions.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1165860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65392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Agrios Smart Farm  |  FSA Agadir — Ibn Zohr University  |  Supervisor: Pr. Abdessamad AMAL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3383280"/>
            <a:ext cx="704088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3383280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261872"/>
            <a:ext cx="338328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53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| ESP32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916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2B7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136392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humidity, temperature, NPK and pH data from the field and sends measurements through Wi-Fi.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5193792"/>
            <a:ext cx="265176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1937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sensors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94760" y="3730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977640" y="1261872"/>
            <a:ext cx="3383280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77640" y="1261872"/>
            <a:ext cx="338328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1353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| Python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492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6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114800" y="2651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 Engine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60520" y="3136392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 API and Random Forest model recommend the crop best suited to real soil conditions.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5193792"/>
            <a:ext cx="265176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51937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52360" y="3730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35240" y="1261872"/>
            <a:ext cx="3383280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35240" y="1261872"/>
            <a:ext cx="3383280" cy="50292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1353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| React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068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772400" y="2651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Farmer Dashboard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18120" y="3136392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dashboard displays live metrics, alerts and clear recommendations for the farmer.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01000" y="5193792"/>
            <a:ext cx="2651760" cy="38404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1000" y="51937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658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1165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field measurements to a recommendation in a few seconds.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1165860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65392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Agrios Smart Farm  |  FSA Agadir — Ibn Zohr University  |  Supervisor: Pr. Abdessamad AMAL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2057400" cy="8046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80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Soil Sensors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6642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0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DHT22, NPK, pH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14016" y="14630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F71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15184" y="1207008"/>
            <a:ext cx="2057400" cy="8046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280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ESP32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15184" y="16642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0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/ HTTP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14630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F71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10328" y="1207008"/>
            <a:ext cx="2057400" cy="8046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280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0328" y="16642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0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04304" y="14630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F71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05472" y="1207008"/>
            <a:ext cx="2057400" cy="804672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5472" y="1280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05472" y="16642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0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soil_model.pkl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99448" y="14630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F71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500616" y="1207008"/>
            <a:ext cx="2057400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0616" y="1280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0616" y="16642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0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212848"/>
            <a:ext cx="11658600" cy="0"/>
          </a:xfrm>
          <a:prstGeom prst="line">
            <a:avLst/>
          </a:prstGeom>
          <a:noFill/>
          <a:ln w="12700">
            <a:solidFill>
              <a:srgbClr val="C8DD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3042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Integrated Sensor Kit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20040" y="2706624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16736" y="2871216"/>
            <a:ext cx="658368" cy="7772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29768" y="4032504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DHT22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29768" y="4398264"/>
            <a:ext cx="24323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humidity &amp; temperature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246120" y="2706624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69080" y="2871216"/>
            <a:ext cx="1005840" cy="3657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355848" y="4032504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Multi-Soil Probe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3355848" y="4398264"/>
            <a:ext cx="24323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Moisture, conductivity &amp; NPK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6172200" y="2706624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68896" y="2871216"/>
            <a:ext cx="658368" cy="65836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281928" y="4032504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 Probe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6281928" y="4398264"/>
            <a:ext cx="24323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acidity monitoring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9098280" y="2706624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966960" y="2871216"/>
            <a:ext cx="914400" cy="91440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208008" y="4032504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ESP32 Wi-Fi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9208008" y="4398264"/>
            <a:ext cx="24323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data collection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658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Analysis: TAM / SAM / SOM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1165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view using public agriculture and innovation ecosystem references.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1165860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65392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Agrios Smart Farm  |  FSA Agadir — Ibn Zohr University  |  Supervisor: Pr. Abdessamad AMAL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32918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61872"/>
            <a:ext cx="3291840" cy="640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350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206654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1.2B MAD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26334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Market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044952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Moroccan IoT Agritech market: smart irrigation, sensors and decision-support software.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67912" y="1261872"/>
            <a:ext cx="28346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67912" y="1261872"/>
            <a:ext cx="283464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67912" y="133502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59352" y="206654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6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180M MAD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59352" y="26334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Serviceable Market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05072" y="3044952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 and citrus farms in Souss-Massa that can adopt connected sensors in the short term.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58584" y="1261872"/>
            <a:ext cx="23774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58584" y="1261872"/>
            <a:ext cx="2377440" cy="6400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13350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50024" y="206654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9M MAD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50024" y="26334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Obtainable Market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95744" y="3044952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3–5 year target: about 5% of SAM through cooperatives and local partners.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83496" y="1261872"/>
            <a:ext cx="2295144" cy="365760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0656" y="1426464"/>
            <a:ext cx="2020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20656" y="1828800"/>
            <a:ext cx="2020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Generation Green 2020–2030 prioritizes digitization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820656" y="2377440"/>
            <a:ext cx="2020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Active Agrotech cluster in Agadir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820656" y="2926080"/>
            <a:ext cx="2020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Souss-Massa innovation ecosystem supports pilots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820656" y="3474720"/>
            <a:ext cx="2020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Water stress creates economic urgency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820656" y="4023360"/>
            <a:ext cx="2020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ESP32 and sensor costs keep falling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658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SWOT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1165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diagnosis of the Agrios Smart Farm project.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1165860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65392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Agrios Smart Farm  |  FSA Agadir — Ibn Zohr University  |  Supervisor: Pr. Abdessamad AMAL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53949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61872"/>
            <a:ext cx="640080" cy="2331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534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69848" y="1353312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9848" y="1737360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IoT + ML + Web architecture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69848" y="2167128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technologies and low hardware cost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69848" y="2596896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Multidisciplinary team: IL, ADIA and IISE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9848" y="3026664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Functional prototype: Wokwi, Flask &amp; React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261872"/>
            <a:ext cx="53949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61872"/>
            <a:ext cx="640080" cy="2331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1534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84848" y="1353312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Weaknesses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84848" y="1737360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Sensors still simulated in Wokwi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84848" y="2167128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model trained on generic dataset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84848" y="2596896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field validation yet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84848" y="3026664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 still to be developed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776472"/>
            <a:ext cx="53949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76472"/>
            <a:ext cx="640080" cy="2331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6680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069848" y="3867912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4251960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Generation Green and Intelaka support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69848" y="4681728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Agrotech cluster and Technopark Agadir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69848" y="5111496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need for precision irrigation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69848" y="5541264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Cooperative and exporter partnerships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3776472"/>
            <a:ext cx="53949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3776472"/>
            <a:ext cx="640080" cy="2331720"/>
          </a:xfrm>
          <a:prstGeom prst="rect">
            <a:avLst/>
          </a:prstGeom>
          <a:solidFill>
            <a:srgbClr val="D45F3C"/>
          </a:solidFill>
          <a:ln w="12700">
            <a:solidFill>
              <a:srgbClr val="D45F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46680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784848" y="3867912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5F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Threats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84848" y="4251960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International players: CropX and Sencrop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84848" y="4681728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 adoption by small farmers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84848" y="5111496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Connectivity cost in rural areas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84848" y="5541264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 sensitivity of imported hardware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658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Blue Ocean Strategy: ERRC Grid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1165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price competition against generic Agritech solutions.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1165860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65392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Agrios Smart Farm  |  FSA Agadir — Ibn Zohr University  |  Supervisor: Pr. Abdessamad AMAL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6858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61872"/>
            <a:ext cx="59436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3619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33272" y="1371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" y="173736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software subscriptions and proprietary hardware lock-in.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96312"/>
            <a:ext cx="6858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96312"/>
            <a:ext cx="594360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7063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33272" y="2606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" y="297180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complexity and dependence on specialized on-site technicians.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730752"/>
            <a:ext cx="6858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730752"/>
            <a:ext cx="594360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0050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33272" y="3840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RAISE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" y="420624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transparency, language accessibility and local support.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965192"/>
            <a:ext cx="6858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965192"/>
            <a:ext cx="59436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523951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33272" y="50749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" y="544068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crop recommendations based on real soil conditions and Souss-Massa climate needs.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0" y="1261872"/>
            <a:ext cx="4480560" cy="507492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14904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BLUE OCEAN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635240" y="1856232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Accessible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Farm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863840" y="2889504"/>
            <a:ext cx="3749040" cy="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3072384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IoT kit plus an AI assistant that speaks the farmer's problem: what to plant, when to react and how to save water.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cooperatives, young farmers and exporters.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658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Porter's Five Forces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1165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 in the Souss-Massa Agritech sector.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1165860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65392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Agrios Smart Farm  |  FSA Agadir — Ibn Zohr University  |  Supervisor: Pr. Abdessamad AMAL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37760" y="2286000"/>
            <a:ext cx="2286000" cy="1920240"/>
          </a:xfrm>
          <a:prstGeom prst="ellipse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Agritech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Souss-Massa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261872"/>
            <a:ext cx="246888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61872"/>
            <a:ext cx="2468880" cy="320040"/>
          </a:xfrm>
          <a:prstGeom prst="rect">
            <a:avLst/>
          </a:prstGeom>
          <a:solidFill>
            <a:srgbClr val="D45F3C"/>
          </a:solidFill>
          <a:ln w="12700">
            <a:solidFill>
              <a:srgbClr val="D45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29844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Entrants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47688" y="12893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9204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technical barriers allow new Moroccan and Maghreb Agritech startups.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4754880"/>
            <a:ext cx="246888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4754880"/>
            <a:ext cx="246888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4791456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Substitutes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47688" y="47823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92040" y="513892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agronomy, manual kits and public support services.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246888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34640"/>
            <a:ext cx="246888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871216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Suppliers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67128" y="28620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21868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ESP32 boards and probes create dependence on small supplier base.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006840" y="2834640"/>
            <a:ext cx="246888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06840" y="2834640"/>
            <a:ext cx="2468880" cy="320040"/>
          </a:xfrm>
          <a:prstGeom prst="rect">
            <a:avLst/>
          </a:prstGeom>
          <a:solidFill>
            <a:srgbClr val="D45F3C"/>
          </a:solidFill>
          <a:ln w="12700">
            <a:solidFill>
              <a:srgbClr val="D45F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79992" y="2871216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53928" y="28620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098280" y="321868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farmers are price-sensitive; cooperatives have strong negotiation power.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658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Model &amp;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1165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university prototype to real field adoption.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1165860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65392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Agrios Smart Farm  |  FSA Agadir — Ibn Zohr University  |  Supervisor: Pr. Abdessamad AMAL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2618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201168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75564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 Kit Sale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1031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Preconfigured sensors and ESP32 at an accessible one-time price.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770632"/>
            <a:ext cx="201168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80720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SaaS Subscription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1546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AI recommendations at ~99 MAD per farm per month.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822192"/>
            <a:ext cx="201168" cy="82296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85876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Partnerships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420624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Cooperatives, ORMVA and exporters for grouped deployments.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873752"/>
            <a:ext cx="201168" cy="822960"/>
          </a:xfrm>
          <a:prstGeom prst="rect">
            <a:avLst/>
          </a:prstGeom>
          <a:solidFill>
            <a:srgbClr val="7A6B54"/>
          </a:solidFill>
          <a:ln w="12700">
            <a:solidFill>
              <a:srgbClr val="7A6B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91032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B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Agronomic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52578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B2B insights for insurers and agro-industrial partners.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261872"/>
            <a:ext cx="0" cy="5120640"/>
          </a:xfrm>
          <a:prstGeom prst="line">
            <a:avLst/>
          </a:prstGeom>
          <a:noFill/>
          <a:ln w="19050">
            <a:solidFill>
              <a:srgbClr val="C8DD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261872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44768" y="1883664"/>
            <a:ext cx="438912" cy="43891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7647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99248" y="176479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56832" y="2103120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IoT in Wokwi, ML API and React dashboard completed.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64224" y="2322576"/>
            <a:ext cx="0" cy="512064"/>
          </a:xfrm>
          <a:prstGeom prst="line">
            <a:avLst/>
          </a:prstGeom>
          <a:noFill/>
          <a:ln w="19050">
            <a:solidFill>
              <a:srgbClr val="52B78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144768" y="2935224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28163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 H1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99248" y="28163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Field Pilot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56832" y="3154680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pilot farms in Souss-Massa using real sensors.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64224" y="3374136"/>
            <a:ext cx="0" cy="512064"/>
          </a:xfrm>
          <a:prstGeom prst="line">
            <a:avLst/>
          </a:prstGeom>
          <a:noFill/>
          <a:ln w="19050">
            <a:solidFill>
              <a:srgbClr val="2D6A4F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44768" y="3986784"/>
            <a:ext cx="438912" cy="438912"/>
          </a:xfrm>
          <a:prstGeom prst="ellipse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38679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 H2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99248" y="38679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56832" y="4206240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with SMS and WhatsApp alerts.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64224" y="4425696"/>
            <a:ext cx="0" cy="512064"/>
          </a:xfrm>
          <a:prstGeom prst="line">
            <a:avLst/>
          </a:prstGeom>
          <a:noFill/>
          <a:ln w="19050">
            <a:solidFill>
              <a:srgbClr val="1A3C34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144768" y="5038344"/>
            <a:ext cx="438912" cy="43891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49194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99248" y="49194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Scale-up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56832" y="5257800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farms through cooperative partnerships.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12161520" cy="20116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1216152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73152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 better,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52B7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less.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828800" y="29443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Agrios brings IoT and AI to Moroccan soil, helping farms become more profitable, sustainable and data-driven.</a:t>
            </a:r>
            <a:br>
              <a:rPr lang="en-US" sz="13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0" i="0" u="sng" dirty="0">
                <a:solidFill>
                  <a:srgbClr val="4493F8"/>
                </a:solidFill>
                <a:effectLst/>
                <a:latin typeface="Mona Sans VF"/>
                <a:hlinkClick r:id="rId3"/>
              </a:rPr>
              <a:t>View UI Prototype →</a:t>
            </a:r>
            <a:endParaRPr lang="en-US" sz="1400" b="0" i="0" u="sng" dirty="0">
              <a:solidFill>
                <a:srgbClr val="4493F8"/>
              </a:solidFill>
              <a:effectLst/>
              <a:latin typeface="Mona Sans VF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34840" y="3675888"/>
            <a:ext cx="3291840" cy="7132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3675888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502920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AGRIOS TEAM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5349240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Yassine Maarouf  |  Fatima Ezzahrae Baiha  |  Hasna Hamdani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5687568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FSA Agadir — Ibn Zohr University  |  github.com/YMR693/Agrios-Smart-Farm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0" y="598932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Pr. Abdessamad AMAL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1099</Words>
  <Application>Microsoft Office PowerPoint</Application>
  <PresentationFormat>Widescreen</PresentationFormat>
  <Paragraphs>213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Mona Sans VF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Agrios Smart Farm</dc:title>
  <dc:subject>PptxGenJS Presentation</dc:subject>
  <dc:creator>Agrios Team</dc:creator>
  <cp:lastModifiedBy>yassine maarouf</cp:lastModifiedBy>
  <cp:revision>2</cp:revision>
  <dcterms:created xsi:type="dcterms:W3CDTF">2026-04-30T18:32:18Z</dcterms:created>
  <dcterms:modified xsi:type="dcterms:W3CDTF">2026-04-30T18:40:25Z</dcterms:modified>
</cp:coreProperties>
</file>